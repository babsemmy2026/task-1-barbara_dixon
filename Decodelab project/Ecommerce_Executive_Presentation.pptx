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182" autoAdjust="0"/>
  </p:normalViewPr>
  <p:slideViewPr>
    <p:cSldViewPr snapToGrid="0" snapToObjects="1">
      <p:cViewPr varScale="1">
        <p:scale>
          <a:sx n="51" d="100"/>
          <a:sy n="51" d="100"/>
        </p:scale>
        <p:origin x="116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3366BC-D829-4985-8A3F-5E52F62F9400}" type="datetimeFigureOut">
              <a:rPr lang="en-DE" smtClean="0"/>
              <a:t>09/09/2026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38236F-6EF9-43F3-9CB1-945CEDFFD3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33941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I am presenting our e-commerce performance analysis covering 1,200 orders </a:t>
            </a:r>
            <a:r>
              <a:rPr lang="en-DE" dirty="0" err="1"/>
              <a:t>totaling</a:t>
            </a:r>
            <a:r>
              <a:rPr lang="en-DE" dirty="0"/>
              <a:t> $1.26 Million in gross revenue with an Average Order Value of $1,053.97. While our top-line revenue generation remains strong, our primary executive finding is that </a:t>
            </a:r>
            <a:r>
              <a:rPr lang="en-DE" b="1" dirty="0"/>
              <a:t>41.</a:t>
            </a:r>
            <a:r>
              <a:rPr lang="en-GB" b="1"/>
              <a:t>1</a:t>
            </a:r>
            <a:r>
              <a:rPr lang="en-DE" b="1"/>
              <a:t>% </a:t>
            </a:r>
            <a:r>
              <a:rPr lang="en-DE" b="1" dirty="0"/>
              <a:t>of gross revenue—over $519,000—is currently lost due to order cancellations and returns</a:t>
            </a:r>
            <a:r>
              <a:rPr lang="en-DE" dirty="0"/>
              <a:t>. Today, we will look at where that revenue is leaking and the operational levers we can pull immediately to recover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38236F-6EF9-43F3-9CB1-945CEDFFD381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77622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sz="1100" dirty="0"/>
              <a:t>Looking closely at our order </a:t>
            </a:r>
            <a:r>
              <a:rPr lang="en-DE" sz="1100" dirty="0" err="1"/>
              <a:t>fulfillment</a:t>
            </a:r>
            <a:r>
              <a:rPr lang="en-DE" sz="1100" dirty="0"/>
              <a:t> pipeline, only 19.2% of our total revenue represents fully delivered transactions ($242.6K). Order cancellations represent our single largest drain at $276.4K (21.85%), closely followed by returns at $243.3K (19.24%). Furthermore, 20.3% ($256.3K) remains in 'Pending' status. This indicates that </a:t>
            </a:r>
            <a:r>
              <a:rPr lang="en-DE" sz="1100" dirty="0" err="1"/>
              <a:t>fulfillment</a:t>
            </a:r>
            <a:r>
              <a:rPr lang="en-DE" sz="1100" dirty="0"/>
              <a:t> friction and order processing delays are directly driving customer churn before product delivery.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38236F-6EF9-43F3-9CB1-945CEDFFD381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35167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When examining product demand, revenue is anchored by our hardware and office category: Chairs ($195.6K), Printers ($195.6K), and Laptops ($192.1K) lead total sales. However, Phones are underperforming at $151.7K—a $44K gap compared to our top SKUs. Focusing stock optimization and bundling strategies around our high-margin Chairs and Laptops will maintain our strong basket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38236F-6EF9-43F3-9CB1-945CEDFFD381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75319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On marketing channels, Instagram is our primary customer acquisition engine, generating $275.3K in sales. However, Email and Google acquisition show elevated </a:t>
            </a:r>
            <a:r>
              <a:rPr lang="en-DE" dirty="0" err="1"/>
              <a:t>fulfillment</a:t>
            </a:r>
            <a:r>
              <a:rPr lang="en-DE" dirty="0"/>
              <a:t> risk rates near 43%. Across payment gateways, Credit Card transactions deliver our highest Average Order Value at $1,127.55, while Online payments drive our highest transaction frequency (258 orders). Debit Card usage trails in both volume and AOV ($1,001.56).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38236F-6EF9-43F3-9CB1-945CEDFFD381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62917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To recover lost revenue and optimize channel efficiency, we recommend three immediate initiatives:</a:t>
            </a:r>
          </a:p>
          <a:p>
            <a:pPr lvl="0"/>
            <a:r>
              <a:rPr lang="en-DE" b="1" dirty="0"/>
              <a:t>Address Cancellation Root Causes:</a:t>
            </a:r>
            <a:r>
              <a:rPr lang="en-DE" dirty="0"/>
              <a:t> Implement automated order status updates and post-cancellation surveys to target the 21.8% cancellation rate.</a:t>
            </a:r>
          </a:p>
          <a:p>
            <a:pPr lvl="0"/>
            <a:r>
              <a:rPr lang="en-DE" b="1" dirty="0"/>
              <a:t>Optimize Payment &amp; Marketing Alignment:</a:t>
            </a:r>
            <a:r>
              <a:rPr lang="en-DE" dirty="0"/>
              <a:t> Scale Instagram acquisition ad spend while offering targeted checkout incentives for Credit Card and Online transactions.</a:t>
            </a:r>
          </a:p>
          <a:p>
            <a:pPr lvl="0"/>
            <a:r>
              <a:rPr lang="en-DE" b="1" dirty="0"/>
              <a:t>Inventory Allocation:</a:t>
            </a:r>
            <a:r>
              <a:rPr lang="en-DE" dirty="0"/>
              <a:t> Prioritize supply chain availability for high-yielding SKUs (Chairs, Printers, Laptops) to prevent </a:t>
            </a:r>
            <a:r>
              <a:rPr lang="en-DE" dirty="0" err="1"/>
              <a:t>fulfillment</a:t>
            </a:r>
            <a:r>
              <a:rPr lang="en-DE" dirty="0"/>
              <a:t> delays on top revenue drivers.</a:t>
            </a:r>
          </a:p>
          <a:p>
            <a:r>
              <a:rPr lang="en-DE" dirty="0"/>
              <a:t>Thank you. I am now open to any questions.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38236F-6EF9-43F3-9CB1-945CEDFFD381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4646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42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A90E2"/>
                </a:solidFill>
              </a:defRPr>
            </a:pPr>
            <a:r>
              <a:rPr sz="1600" dirty="0"/>
              <a:t>E-COMMERCE SALES &amp; FULFILLMENT</a:t>
            </a:r>
          </a:p>
          <a:p>
            <a:pPr>
              <a:spcAft>
                <a:spcPts val="1500"/>
              </a:spcAft>
              <a:defRPr sz="3600" b="1">
                <a:solidFill>
                  <a:srgbClr val="FFFFFF"/>
                </a:solidFill>
              </a:defRPr>
            </a:pPr>
            <a:r>
              <a:rPr sz="4000" dirty="0"/>
              <a:t>Executive Performance &amp; Strategy Review</a:t>
            </a:r>
          </a:p>
          <a:p>
            <a:pPr>
              <a:defRPr sz="1600">
                <a:solidFill>
                  <a:srgbClr val="AAAAAA"/>
                </a:solidFill>
              </a:defRPr>
            </a:pPr>
            <a:r>
              <a:rPr dirty="0"/>
              <a:t>5-Minute Key Findings &amp; Action Plan | September 2026</a:t>
            </a:r>
            <a:endParaRPr lang="en-GB" dirty="0"/>
          </a:p>
          <a:p>
            <a:pPr>
              <a:defRPr sz="1600">
                <a:solidFill>
                  <a:srgbClr val="AAAAAA"/>
                </a:solidFill>
              </a:defRPr>
            </a:pPr>
            <a:endParaRPr lang="en-GB" dirty="0"/>
          </a:p>
          <a:p>
            <a:pPr>
              <a:defRPr sz="1600">
                <a:solidFill>
                  <a:srgbClr val="AAAAAA"/>
                </a:solidFill>
              </a:defRPr>
            </a:pPr>
            <a:endParaRPr lang="en-GB" dirty="0"/>
          </a:p>
          <a:p>
            <a:pPr>
              <a:defRPr sz="1600">
                <a:solidFill>
                  <a:srgbClr val="AAAAAA"/>
                </a:solidFill>
              </a:defRPr>
            </a:pPr>
            <a:endParaRPr lang="en-GB" dirty="0"/>
          </a:p>
          <a:p>
            <a:pPr>
              <a:defRPr sz="1600">
                <a:solidFill>
                  <a:srgbClr val="AAAAAA"/>
                </a:solidFill>
              </a:defRPr>
            </a:pPr>
            <a:endParaRPr lang="en-GB" dirty="0"/>
          </a:p>
          <a:p>
            <a:pPr>
              <a:defRPr sz="1600">
                <a:solidFill>
                  <a:srgbClr val="AAAAAA"/>
                </a:solidFill>
              </a:defRPr>
            </a:pPr>
            <a:r>
              <a:rPr lang="en-GB" sz="2400" dirty="0"/>
              <a:t>By</a:t>
            </a:r>
          </a:p>
          <a:p>
            <a:pPr>
              <a:defRPr sz="1600">
                <a:solidFill>
                  <a:srgbClr val="AAAAAA"/>
                </a:solidFill>
              </a:defRPr>
            </a:pPr>
            <a:r>
              <a:rPr lang="en-GB" sz="3600" b="1" dirty="0"/>
              <a:t>Barbara Dixon</a:t>
            </a:r>
            <a:endParaRPr sz="3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5796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A90E2"/>
                </a:solidFill>
              </a:defRPr>
            </a:pPr>
            <a:r>
              <a:rPr sz="1400" dirty="0"/>
              <a:t>E-COMMERCE ANALYTICS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Executive Overview: Core Business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42032" cy="16459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000" b="1">
                <a:solidFill>
                  <a:srgbClr val="AAAAAA"/>
                </a:solidFill>
              </a:defRPr>
            </a:pPr>
            <a:r>
              <a:rPr dirty="0"/>
              <a:t>GROSS REVENUE</a:t>
            </a:r>
          </a:p>
          <a:p>
            <a:pPr>
              <a:spcAft>
                <a:spcPts val="600"/>
              </a:spcAft>
              <a:defRPr sz="2800" b="1">
                <a:solidFill>
                  <a:srgbClr val="4A90E2"/>
                </a:solidFill>
              </a:defRPr>
            </a:pPr>
            <a:r>
              <a:rPr dirty="0"/>
              <a:t>$1.26M</a:t>
            </a:r>
          </a:p>
          <a:p>
            <a:pPr>
              <a:defRPr sz="900">
                <a:solidFill>
                  <a:srgbClr val="AAAAAA"/>
                </a:solidFill>
              </a:defRPr>
            </a:pPr>
            <a:r>
              <a:rPr sz="1100" dirty="0"/>
              <a:t>Total sales volume across 1.2K orders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371600"/>
            <a:ext cx="2542032" cy="16459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000" b="1">
                <a:solidFill>
                  <a:srgbClr val="AAAAAA"/>
                </a:solidFill>
              </a:defRPr>
            </a:pPr>
            <a:r>
              <a:rPr dirty="0"/>
              <a:t>TOTAL ORDERS</a:t>
            </a:r>
          </a:p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rPr dirty="0"/>
              <a:t>1,200</a:t>
            </a:r>
          </a:p>
          <a:p>
            <a:pPr>
              <a:defRPr sz="900">
                <a:solidFill>
                  <a:srgbClr val="AAAAAA"/>
                </a:solidFill>
              </a:defRPr>
            </a:pPr>
            <a:r>
              <a:rPr sz="1100" dirty="0"/>
              <a:t>Unique customer transactions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2542032" cy="16459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000" b="1">
                <a:solidFill>
                  <a:srgbClr val="AAAAAA"/>
                </a:solidFill>
              </a:defRPr>
            </a:pPr>
            <a:r>
              <a:rPr dirty="0"/>
              <a:t>AVERAGE ORDER VALUE</a:t>
            </a:r>
          </a:p>
          <a:p>
            <a:pPr>
              <a:spcAft>
                <a:spcPts val="600"/>
              </a:spcAft>
              <a:defRPr sz="2800" b="1">
                <a:solidFill>
                  <a:srgbClr val="2ECC71"/>
                </a:solidFill>
              </a:defRPr>
            </a:pPr>
            <a:r>
              <a:rPr dirty="0"/>
              <a:t>$1,053.97</a:t>
            </a:r>
          </a:p>
          <a:p>
            <a:pPr>
              <a:defRPr sz="900">
                <a:solidFill>
                  <a:srgbClr val="AAAAAA"/>
                </a:solidFill>
              </a:defRPr>
            </a:pPr>
            <a:r>
              <a:rPr sz="1100" dirty="0"/>
              <a:t>Healthy basket size across categories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371600"/>
            <a:ext cx="2542032" cy="16459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000" b="1">
                <a:solidFill>
                  <a:srgbClr val="AAAAAA"/>
                </a:solidFill>
              </a:defRPr>
            </a:pPr>
            <a:r>
              <a:rPr dirty="0"/>
              <a:t>LOST REVENUE</a:t>
            </a:r>
          </a:p>
          <a:p>
            <a:pPr>
              <a:spcAft>
                <a:spcPts val="600"/>
              </a:spcAft>
              <a:defRPr sz="2800" b="1">
                <a:solidFill>
                  <a:srgbClr val="E74C3C"/>
                </a:solidFill>
              </a:defRPr>
            </a:pPr>
            <a:r>
              <a:rPr dirty="0"/>
              <a:t>$519.67K</a:t>
            </a:r>
          </a:p>
          <a:p>
            <a:pPr>
              <a:defRPr sz="900">
                <a:solidFill>
                  <a:srgbClr val="AAAAAA"/>
                </a:solidFill>
              </a:defRPr>
            </a:pPr>
            <a:r>
              <a:rPr sz="1100" dirty="0"/>
              <a:t>41.1% leakage via cancellations &amp; returns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728655" cy="29260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000"/>
              </a:spcAft>
              <a:defRPr sz="1100" b="1">
                <a:solidFill>
                  <a:srgbClr val="4A90E2"/>
                </a:solidFill>
              </a:defRPr>
            </a:pPr>
            <a:r>
              <a:rPr sz="2000" dirty="0"/>
              <a:t>EXECUTIVE TAKEAWAY</a:t>
            </a:r>
          </a:p>
          <a:p>
            <a:pPr>
              <a:spcAft>
                <a:spcPts val="800"/>
              </a:spcAft>
              <a:defRPr sz="1300"/>
            </a:pPr>
            <a:r>
              <a:rPr sz="2000" b="1" dirty="0">
                <a:solidFill>
                  <a:srgbClr val="FFFFFF"/>
                </a:solidFill>
              </a:rPr>
              <a:t>• Top-Line Revenue Power: </a:t>
            </a:r>
            <a:r>
              <a:rPr sz="2000" dirty="0">
                <a:solidFill>
                  <a:srgbClr val="AAAAAA"/>
                </a:solidFill>
              </a:rPr>
              <a:t>Gross revenue stands strong at $1.26M, driven by solid Average Order Values ($1,053.97).</a:t>
            </a:r>
          </a:p>
          <a:p>
            <a:pPr>
              <a:spcAft>
                <a:spcPts val="800"/>
              </a:spcAft>
              <a:defRPr sz="1300"/>
            </a:pPr>
            <a:r>
              <a:rPr sz="2000" b="1" dirty="0">
                <a:solidFill>
                  <a:srgbClr val="FFFFFF"/>
                </a:solidFill>
              </a:rPr>
              <a:t>• Critical Revenue Leakage: </a:t>
            </a:r>
            <a:r>
              <a:rPr sz="2000" dirty="0">
                <a:solidFill>
                  <a:srgbClr val="AAAAAA"/>
                </a:solidFill>
              </a:rPr>
              <a:t>41.1% of total revenue ($519.67K) is lost due to order cancellations and product returns.</a:t>
            </a:r>
          </a:p>
          <a:p>
            <a:pPr>
              <a:spcAft>
                <a:spcPts val="800"/>
              </a:spcAft>
              <a:defRPr sz="1300"/>
            </a:pPr>
            <a:r>
              <a:rPr sz="2000" b="1" dirty="0">
                <a:solidFill>
                  <a:srgbClr val="FFFFFF"/>
                </a:solidFill>
              </a:rPr>
              <a:t>• Primary Objective: </a:t>
            </a:r>
            <a:r>
              <a:rPr sz="2000" dirty="0">
                <a:solidFill>
                  <a:srgbClr val="AAAAAA"/>
                </a:solidFill>
              </a:rPr>
              <a:t>Tighten fulfillment speed and post-purchase customer communication to capture lost top-line margin.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5796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A90E2"/>
                </a:solidFill>
              </a:defRPr>
            </a:pPr>
            <a:r>
              <a:rPr sz="1400" dirty="0"/>
              <a:t>E-COMMERCE ANALYTICS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Fulfillment Pipeline: Order Status &amp; Loss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1" y="1371600"/>
            <a:ext cx="10191176" cy="8229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/>
            <a:r>
              <a:rPr sz="1600" b="1" dirty="0">
                <a:solidFill>
                  <a:srgbClr val="E74C3C"/>
                </a:solidFill>
              </a:rPr>
              <a:t>Cancelled </a:t>
            </a:r>
            <a:r>
              <a:rPr sz="1400" b="1" dirty="0">
                <a:solidFill>
                  <a:srgbClr val="E74C3C"/>
                </a:solidFill>
              </a:rPr>
              <a:t>    </a:t>
            </a:r>
            <a:r>
              <a:rPr sz="1400" dirty="0">
                <a:solidFill>
                  <a:srgbClr val="FFFFFF"/>
                </a:solidFill>
              </a:rPr>
              <a:t>Revenue: $276.40K (21.85%)   |   Volume: 250 Orders   |   Impact: Highest single revenue drain; pre-shipping churn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0728655" cy="8229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/>
            <a:r>
              <a:rPr sz="1600" b="1" dirty="0">
                <a:solidFill>
                  <a:srgbClr val="F39C12"/>
                </a:solidFill>
              </a:rPr>
              <a:t>Pending </a:t>
            </a:r>
            <a:r>
              <a:rPr sz="1400" b="1" dirty="0">
                <a:solidFill>
                  <a:srgbClr val="F39C12"/>
                </a:solidFill>
              </a:rPr>
              <a:t>      </a:t>
            </a:r>
            <a:r>
              <a:rPr sz="1400" dirty="0">
                <a:solidFill>
                  <a:srgbClr val="FFFFFF"/>
                </a:solidFill>
              </a:rPr>
              <a:t>Revenue: $256.33K (20.27%)   |   Volume: 237 Orders   |   Impact: Processing bottleneck; risk of converting to cancellations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8700579" cy="8229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/>
            <a:r>
              <a:rPr sz="1600" b="1" dirty="0">
                <a:solidFill>
                  <a:srgbClr val="4A90E2"/>
                </a:solidFill>
              </a:rPr>
              <a:t>Shipped   </a:t>
            </a:r>
            <a:r>
              <a:rPr sz="1400" b="1" dirty="0">
                <a:solidFill>
                  <a:srgbClr val="4A90E2"/>
                </a:solidFill>
              </a:rPr>
              <a:t>    </a:t>
            </a:r>
            <a:r>
              <a:rPr sz="1400" dirty="0">
                <a:solidFill>
                  <a:srgbClr val="FFFFFF"/>
                </a:solidFill>
              </a:rPr>
              <a:t>Revenue: $246.16K (19.46%)   |   Volume: 235 Orders   |   Impact: In-transit fulfillment volume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51960"/>
            <a:ext cx="10479275" cy="8229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/>
            <a:r>
              <a:rPr sz="1600" b="1" dirty="0">
                <a:solidFill>
                  <a:srgbClr val="F39C12"/>
                </a:solidFill>
              </a:rPr>
              <a:t>Returned</a:t>
            </a:r>
            <a:r>
              <a:rPr sz="1400" b="1" dirty="0">
                <a:solidFill>
                  <a:srgbClr val="F39C12"/>
                </a:solidFill>
              </a:rPr>
              <a:t>      </a:t>
            </a:r>
            <a:r>
              <a:rPr sz="1400" dirty="0">
                <a:solidFill>
                  <a:srgbClr val="FFFFFF"/>
                </a:solidFill>
              </a:rPr>
              <a:t>Revenue: $243.28K (19.24%)   |   Volume: 247 Orders   |   Impact: Post-delivery churn; quality or expectation mismatch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1" y="5212080"/>
            <a:ext cx="8525214" cy="822960"/>
          </a:xfrm>
          <a:prstGeom prst="roundRect">
            <a:avLst>
              <a:gd name="adj" fmla="val 24277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/>
            <a:r>
              <a:rPr sz="1600" b="1" dirty="0">
                <a:solidFill>
                  <a:srgbClr val="2ECC71"/>
                </a:solidFill>
              </a:rPr>
              <a:t>Delivered</a:t>
            </a:r>
            <a:r>
              <a:rPr sz="1400" b="1" dirty="0">
                <a:solidFill>
                  <a:srgbClr val="2ECC71"/>
                </a:solidFill>
              </a:rPr>
              <a:t>     </a:t>
            </a:r>
            <a:r>
              <a:rPr sz="1400" dirty="0">
                <a:solidFill>
                  <a:srgbClr val="FFFFFF"/>
                </a:solidFill>
              </a:rPr>
              <a:t>Revenue: $242.60K (19.18%)   |   Volume: 231 Orders   |   Impact: Fully realized net 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5796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A90E2"/>
                </a:solidFill>
              </a:defRPr>
            </a:pPr>
            <a:r>
              <a:rPr sz="1400" dirty="0"/>
              <a:t>E-COMMERCE ANALYTICS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Product Revenue &amp; Category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4A90E2"/>
                </a:solidFill>
              </a:defRPr>
            </a:pPr>
            <a:r>
              <a:rPr sz="1600" dirty="0"/>
              <a:t>PRODUCT REVENUE RANKING</a:t>
            </a:r>
          </a:p>
          <a:p>
            <a:pPr>
              <a:spcAft>
                <a:spcPts val="600"/>
              </a:spcAft>
              <a:defRPr sz="1100"/>
            </a:pPr>
            <a:r>
              <a:rPr b="1" dirty="0">
                <a:solidFill>
                  <a:srgbClr val="FFFFFF"/>
                </a:solidFill>
              </a:rPr>
              <a:t>• </a:t>
            </a:r>
            <a:r>
              <a:rPr sz="1400" b="1" dirty="0">
                <a:solidFill>
                  <a:srgbClr val="FFFFFF"/>
                </a:solidFill>
              </a:rPr>
              <a:t>Chair: </a:t>
            </a:r>
            <a:r>
              <a:rPr sz="1400" dirty="0">
                <a:solidFill>
                  <a:srgbClr val="AAAAAA"/>
                </a:solidFill>
              </a:rPr>
              <a:t>$195.62K (562 units) — AOV: $1,098.99</a:t>
            </a:r>
          </a:p>
          <a:p>
            <a:pPr>
              <a:spcAft>
                <a:spcPts val="600"/>
              </a:spcAft>
              <a:defRPr sz="1100"/>
            </a:pPr>
            <a:r>
              <a:rPr sz="1400" b="1" dirty="0">
                <a:solidFill>
                  <a:srgbClr val="FFFFFF"/>
                </a:solidFill>
              </a:rPr>
              <a:t>• Printer: </a:t>
            </a:r>
            <a:r>
              <a:rPr sz="1400" dirty="0">
                <a:solidFill>
                  <a:srgbClr val="AAAAAA"/>
                </a:solidFill>
              </a:rPr>
              <a:t>$195.61K (542 units) — AOV: $1,080.73</a:t>
            </a:r>
          </a:p>
          <a:p>
            <a:pPr>
              <a:spcAft>
                <a:spcPts val="600"/>
              </a:spcAft>
              <a:defRPr sz="1100"/>
            </a:pPr>
            <a:r>
              <a:rPr sz="1400" b="1" dirty="0">
                <a:solidFill>
                  <a:srgbClr val="FFFFFF"/>
                </a:solidFill>
              </a:rPr>
              <a:t>• Laptop: </a:t>
            </a:r>
            <a:r>
              <a:rPr sz="1400" dirty="0">
                <a:solidFill>
                  <a:srgbClr val="AAAAAA"/>
                </a:solidFill>
              </a:rPr>
              <a:t>$192.13K (535 units) — AOV: $1,110.56</a:t>
            </a:r>
          </a:p>
          <a:p>
            <a:pPr>
              <a:spcAft>
                <a:spcPts val="600"/>
              </a:spcAft>
              <a:defRPr sz="1100"/>
            </a:pPr>
            <a:r>
              <a:rPr sz="1400" b="1" dirty="0">
                <a:solidFill>
                  <a:srgbClr val="FFFFFF"/>
                </a:solidFill>
              </a:rPr>
              <a:t>• Tablet: </a:t>
            </a:r>
            <a:r>
              <a:rPr sz="1400" dirty="0">
                <a:solidFill>
                  <a:srgbClr val="AAAAAA"/>
                </a:solidFill>
              </a:rPr>
              <a:t>$186.57K (497 units) — AOV: $1,042.28</a:t>
            </a:r>
          </a:p>
          <a:p>
            <a:pPr>
              <a:spcAft>
                <a:spcPts val="600"/>
              </a:spcAft>
              <a:defRPr sz="1100"/>
            </a:pPr>
            <a:r>
              <a:rPr sz="1400" b="1" dirty="0">
                <a:solidFill>
                  <a:srgbClr val="FFFFFF"/>
                </a:solidFill>
              </a:rPr>
              <a:t>• Monitor: </a:t>
            </a:r>
            <a:r>
              <a:rPr sz="1400" dirty="0">
                <a:solidFill>
                  <a:srgbClr val="AAAAAA"/>
                </a:solidFill>
              </a:rPr>
              <a:t>$175.65K (480 units) — AOV: $1,077.62</a:t>
            </a:r>
          </a:p>
          <a:p>
            <a:pPr>
              <a:spcAft>
                <a:spcPts val="600"/>
              </a:spcAft>
              <a:defRPr sz="1100"/>
            </a:pPr>
            <a:r>
              <a:rPr sz="1400" b="1" dirty="0">
                <a:solidFill>
                  <a:srgbClr val="FFFFFF"/>
                </a:solidFill>
              </a:rPr>
              <a:t>• Desk: </a:t>
            </a:r>
            <a:r>
              <a:rPr sz="1400" dirty="0">
                <a:solidFill>
                  <a:srgbClr val="AAAAAA"/>
                </a:solidFill>
              </a:rPr>
              <a:t>$167.46K (508 units) — AOV: $985.06</a:t>
            </a:r>
          </a:p>
          <a:p>
            <a:pPr>
              <a:spcAft>
                <a:spcPts val="600"/>
              </a:spcAft>
              <a:defRPr sz="1100"/>
            </a:pPr>
            <a:r>
              <a:rPr sz="1400" b="1" dirty="0">
                <a:solidFill>
                  <a:srgbClr val="FFFFFF"/>
                </a:solidFill>
              </a:rPr>
              <a:t>• Phone: </a:t>
            </a:r>
            <a:r>
              <a:rPr sz="1400" dirty="0">
                <a:solidFill>
                  <a:srgbClr val="AAAAAA"/>
                </a:solidFill>
              </a:rPr>
              <a:t>$151.72K (411 units) — AOV: $972.58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371600"/>
            <a:ext cx="5212080" cy="48463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200" b="1">
                <a:solidFill>
                  <a:srgbClr val="2ECC71"/>
                </a:solidFill>
              </a:defRPr>
            </a:pPr>
            <a:r>
              <a:rPr sz="1600" dirty="0"/>
              <a:t>CATEGORY STRATEGY</a:t>
            </a:r>
          </a:p>
          <a:p>
            <a:pPr>
              <a:spcAft>
                <a:spcPts val="1000"/>
              </a:spcAft>
              <a:defRPr sz="1100"/>
            </a:pPr>
            <a:r>
              <a:rPr b="1" dirty="0">
                <a:solidFill>
                  <a:srgbClr val="FFFFFF"/>
                </a:solidFill>
              </a:rPr>
              <a:t>• </a:t>
            </a:r>
            <a:r>
              <a:rPr sz="1400" b="1" dirty="0">
                <a:solidFill>
                  <a:srgbClr val="FFFFFF"/>
                </a:solidFill>
              </a:rPr>
              <a:t>Anchor SKUs: </a:t>
            </a:r>
            <a:r>
              <a:rPr sz="1400" dirty="0">
                <a:solidFill>
                  <a:srgbClr val="AAAAAA"/>
                </a:solidFill>
              </a:rPr>
              <a:t>Chairs, Printers, and Laptops account for over 46% of gross revenue. Maintain stock priority.</a:t>
            </a:r>
          </a:p>
          <a:p>
            <a:pPr>
              <a:spcAft>
                <a:spcPts val="1000"/>
              </a:spcAft>
              <a:defRPr sz="1100"/>
            </a:pPr>
            <a:r>
              <a:rPr sz="1400" b="1" dirty="0">
                <a:solidFill>
                  <a:srgbClr val="FFFFFF"/>
                </a:solidFill>
              </a:rPr>
              <a:t>• AOV Champions: </a:t>
            </a:r>
            <a:r>
              <a:rPr sz="1400" dirty="0">
                <a:solidFill>
                  <a:srgbClr val="AAAAAA"/>
                </a:solidFill>
              </a:rPr>
              <a:t>Laptops drive the highest basket value at $1,110.56 per order.</a:t>
            </a:r>
          </a:p>
          <a:p>
            <a:pPr>
              <a:spcAft>
                <a:spcPts val="1000"/>
              </a:spcAft>
              <a:defRPr sz="1100"/>
            </a:pPr>
            <a:r>
              <a:rPr sz="1400" b="1" dirty="0">
                <a:solidFill>
                  <a:srgbClr val="FFFFFF"/>
                </a:solidFill>
              </a:rPr>
              <a:t>• Underperformance Gap: </a:t>
            </a:r>
            <a:r>
              <a:rPr sz="1400" dirty="0">
                <a:solidFill>
                  <a:srgbClr val="AAAAAA"/>
                </a:solidFill>
              </a:rPr>
              <a:t>Phones trail top products by $44K in total revenue and have the lowest AOV ($972.58).</a:t>
            </a:r>
          </a:p>
          <a:p>
            <a:pPr>
              <a:spcAft>
                <a:spcPts val="1000"/>
              </a:spcAft>
              <a:defRPr sz="1100"/>
            </a:pPr>
            <a:r>
              <a:rPr sz="1400" b="1" dirty="0">
                <a:solidFill>
                  <a:srgbClr val="FFFFFF"/>
                </a:solidFill>
              </a:rPr>
              <a:t>• Action: </a:t>
            </a:r>
            <a:r>
              <a:rPr sz="1400" dirty="0">
                <a:solidFill>
                  <a:srgbClr val="AAAAAA"/>
                </a:solidFill>
              </a:rPr>
              <a:t>Bundle lower-performing SKUs (Phones, Desks) with high-AOV hardware to increase overall basket value.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5796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A90E2"/>
                </a:solidFill>
              </a:defRPr>
            </a:pPr>
            <a:r>
              <a:rPr sz="1400" dirty="0"/>
              <a:t>E-COMMERCE ANALYTICS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Acquisition Channels &amp; Payment Method Dynamics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4A90E2"/>
                </a:solidFill>
              </a:defRPr>
            </a:pPr>
            <a:r>
              <a:rPr sz="1600" dirty="0"/>
              <a:t>MARKETING ACQUISITION</a:t>
            </a:r>
          </a:p>
          <a:p>
            <a:pPr>
              <a:spcAft>
                <a:spcPts val="800"/>
              </a:spcAft>
              <a:defRPr sz="1100"/>
            </a:pPr>
            <a:r>
              <a:rPr sz="1400" b="1" dirty="0">
                <a:solidFill>
                  <a:srgbClr val="FFFFFF"/>
                </a:solidFill>
              </a:rPr>
              <a:t>• Instagram: </a:t>
            </a:r>
            <a:r>
              <a:rPr sz="1400" dirty="0">
                <a:solidFill>
                  <a:srgbClr val="AAAAAA"/>
                </a:solidFill>
              </a:rPr>
              <a:t>$275.3K (259 orders) — Top Acquisition Engine</a:t>
            </a:r>
          </a:p>
          <a:p>
            <a:pPr>
              <a:spcAft>
                <a:spcPts val="800"/>
              </a:spcAft>
              <a:defRPr sz="1100"/>
            </a:pPr>
            <a:r>
              <a:rPr sz="1400" b="1" dirty="0">
                <a:solidFill>
                  <a:srgbClr val="FFFFFF"/>
                </a:solidFill>
              </a:rPr>
              <a:t>• Email: </a:t>
            </a:r>
            <a:r>
              <a:rPr sz="1400" dirty="0">
                <a:solidFill>
                  <a:srgbClr val="AAAAAA"/>
                </a:solidFill>
              </a:rPr>
              <a:t>$261.8K (250 orders) — Strong Retention Source</a:t>
            </a:r>
          </a:p>
          <a:p>
            <a:pPr>
              <a:spcAft>
                <a:spcPts val="800"/>
              </a:spcAft>
              <a:defRPr sz="1100"/>
            </a:pPr>
            <a:r>
              <a:rPr sz="1400" b="1" dirty="0">
                <a:solidFill>
                  <a:srgbClr val="FFFFFF"/>
                </a:solidFill>
              </a:rPr>
              <a:t>• Google: </a:t>
            </a:r>
            <a:r>
              <a:rPr sz="1400" dirty="0">
                <a:solidFill>
                  <a:srgbClr val="AAAAAA"/>
                </a:solidFill>
              </a:rPr>
              <a:t>$250.4K (241 orders) — High Intent Organic/Paid</a:t>
            </a:r>
          </a:p>
          <a:p>
            <a:pPr>
              <a:spcAft>
                <a:spcPts val="800"/>
              </a:spcAft>
              <a:defRPr sz="1100"/>
            </a:pPr>
            <a:r>
              <a:rPr sz="1400" b="1" dirty="0">
                <a:solidFill>
                  <a:srgbClr val="FFFFFF"/>
                </a:solidFill>
              </a:rPr>
              <a:t>• Facebook: </a:t>
            </a:r>
            <a:r>
              <a:rPr sz="1400" dirty="0">
                <a:solidFill>
                  <a:srgbClr val="AAAAAA"/>
                </a:solidFill>
              </a:rPr>
              <a:t>$250.4K (228 orders) — High Average Basket Value</a:t>
            </a:r>
          </a:p>
          <a:p>
            <a:pPr>
              <a:spcAft>
                <a:spcPts val="800"/>
              </a:spcAft>
              <a:defRPr sz="1100"/>
            </a:pPr>
            <a:r>
              <a:rPr sz="1400" b="1" dirty="0">
                <a:solidFill>
                  <a:srgbClr val="FFFFFF"/>
                </a:solidFill>
              </a:rPr>
              <a:t>• Referral: </a:t>
            </a:r>
            <a:r>
              <a:rPr sz="1400" dirty="0">
                <a:solidFill>
                  <a:srgbClr val="AAAAAA"/>
                </a:solidFill>
              </a:rPr>
              <a:t>$226.8K (222 orders) — Lowest Volume Channel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371600"/>
            <a:ext cx="5212080" cy="48463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F39C12"/>
                </a:solidFill>
              </a:defRPr>
            </a:pPr>
            <a:r>
              <a:rPr sz="1600" dirty="0"/>
              <a:t>PAYMENT GATEWAY BREAKDOWN</a:t>
            </a:r>
          </a:p>
          <a:p>
            <a:pPr>
              <a:spcAft>
                <a:spcPts val="800"/>
              </a:spcAft>
              <a:defRPr sz="1100"/>
            </a:pPr>
            <a:r>
              <a:rPr b="1" dirty="0">
                <a:solidFill>
                  <a:srgbClr val="FFFFFF"/>
                </a:solidFill>
              </a:rPr>
              <a:t>• </a:t>
            </a:r>
            <a:r>
              <a:rPr sz="1400" b="1" dirty="0">
                <a:solidFill>
                  <a:srgbClr val="FFFFFF"/>
                </a:solidFill>
              </a:rPr>
              <a:t>Credit Card: </a:t>
            </a:r>
            <a:r>
              <a:rPr sz="1400" dirty="0">
                <a:solidFill>
                  <a:srgbClr val="AAAAAA"/>
                </a:solidFill>
              </a:rPr>
              <a:t>$263.8K ($1,127.55 AOV) — Highest Order Value</a:t>
            </a:r>
          </a:p>
          <a:p>
            <a:pPr>
              <a:spcAft>
                <a:spcPts val="800"/>
              </a:spcAft>
              <a:defRPr sz="1100"/>
            </a:pPr>
            <a:r>
              <a:rPr sz="1400" b="1" dirty="0">
                <a:solidFill>
                  <a:srgbClr val="FFFFFF"/>
                </a:solidFill>
              </a:rPr>
              <a:t>• Online: </a:t>
            </a:r>
            <a:r>
              <a:rPr sz="1400" dirty="0">
                <a:solidFill>
                  <a:srgbClr val="AAAAAA"/>
                </a:solidFill>
              </a:rPr>
              <a:t>$262.4K (258 orders) — Highest Volume Channel</a:t>
            </a:r>
          </a:p>
          <a:p>
            <a:pPr>
              <a:spcAft>
                <a:spcPts val="800"/>
              </a:spcAft>
              <a:defRPr sz="1100"/>
            </a:pPr>
            <a:r>
              <a:rPr sz="1400" b="1" dirty="0">
                <a:solidFill>
                  <a:srgbClr val="FFFFFF"/>
                </a:solidFill>
              </a:rPr>
              <a:t>• Cash: </a:t>
            </a:r>
            <a:r>
              <a:rPr sz="1400" dirty="0">
                <a:solidFill>
                  <a:srgbClr val="AAAAAA"/>
                </a:solidFill>
              </a:rPr>
              <a:t>$259.8K (246 orders) — Steady Transaction Flow</a:t>
            </a:r>
          </a:p>
          <a:p>
            <a:pPr>
              <a:spcAft>
                <a:spcPts val="800"/>
              </a:spcAft>
              <a:defRPr sz="1100"/>
            </a:pPr>
            <a:r>
              <a:rPr sz="1400" b="1" dirty="0">
                <a:solidFill>
                  <a:srgbClr val="FFFFFF"/>
                </a:solidFill>
              </a:rPr>
              <a:t>• Gift Card: </a:t>
            </a:r>
            <a:r>
              <a:rPr sz="1400" dirty="0">
                <a:solidFill>
                  <a:srgbClr val="AAAAAA"/>
                </a:solidFill>
              </a:rPr>
              <a:t>$246.3K ($1,070.97 AOV) — Solid Prepaid Usage</a:t>
            </a:r>
          </a:p>
          <a:p>
            <a:pPr>
              <a:spcAft>
                <a:spcPts val="800"/>
              </a:spcAft>
              <a:defRPr sz="1100"/>
            </a:pPr>
            <a:r>
              <a:rPr sz="1400" b="1" dirty="0">
                <a:solidFill>
                  <a:srgbClr val="FFFFFF"/>
                </a:solidFill>
              </a:rPr>
              <a:t>• Debit Card: </a:t>
            </a:r>
            <a:r>
              <a:rPr sz="1400" dirty="0">
                <a:solidFill>
                  <a:srgbClr val="AAAAAA"/>
                </a:solidFill>
              </a:rPr>
              <a:t>$232.4K ($1,001.56 AOV) — Lowest Volume &amp; AOV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5796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A90E2"/>
                </a:solidFill>
              </a:defRPr>
            </a:pPr>
            <a:r>
              <a:rPr sz="1400" dirty="0"/>
              <a:t>E-COMMERCE ANALYTICS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Executive Action Plan &amp; Strategic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3716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E74C3C"/>
                </a:solidFill>
              </a:defRPr>
            </a:pPr>
            <a:r>
              <a:rPr sz="1600" dirty="0"/>
              <a:t>1. REDUCE CANCELLATION LEAKAGE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sz="1400" dirty="0"/>
              <a:t>Deploy automated order tracking and immediate post-purchase SMS/email status notifications to stabilize the 21.8% cancellation rate.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10728655" cy="13716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4A90E2"/>
                </a:solidFill>
              </a:defRPr>
            </a:pPr>
            <a:r>
              <a:rPr sz="1600" dirty="0"/>
              <a:t>2. SCALE HIGH-YIELD CHANNELS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sz="1400" dirty="0"/>
              <a:t>Reallocate digital ad spend toward Instagram ($275.3K) and optimize credit card checkout UX to boost overall Average Order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0728655" cy="13716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2ECC71"/>
                </a:solidFill>
              </a:defRPr>
            </a:pPr>
            <a:r>
              <a:rPr sz="1600" dirty="0"/>
              <a:t>3. STOCK ALLOCATION &amp; BUNDLING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sz="1400" dirty="0"/>
              <a:t>Ensure inventory priority for top revenue SKUs (Chairs, Printers, Laptops) while bundling underperforming SKUs (Phones).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1081</Words>
  <Application>Microsoft Office PowerPoint</Application>
  <PresentationFormat>Widescreen</PresentationFormat>
  <Paragraphs>85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Barbara Dixon</cp:lastModifiedBy>
  <cp:revision>6</cp:revision>
  <dcterms:created xsi:type="dcterms:W3CDTF">2013-01-27T09:14:16Z</dcterms:created>
  <dcterms:modified xsi:type="dcterms:W3CDTF">2026-09-09T18:32:14Z</dcterms:modified>
  <cp:category/>
</cp:coreProperties>
</file>